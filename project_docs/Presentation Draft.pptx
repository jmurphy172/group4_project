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57" r:id="rId4"/>
    <p:sldId id="267" r:id="rId5"/>
    <p:sldId id="268" r:id="rId6"/>
    <p:sldId id="262" r:id="rId7"/>
    <p:sldId id="269" r:id="rId8"/>
    <p:sldId id="271" r:id="rId9"/>
    <p:sldId id="272" r:id="rId10"/>
    <p:sldId id="259" r:id="rId11"/>
    <p:sldId id="260" r:id="rId12"/>
    <p:sldId id="264" r:id="rId13"/>
    <p:sldId id="261" r:id="rId14"/>
    <p:sldId id="263" r:id="rId15"/>
    <p:sldId id="26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llum Rennie" userId="3072aa3b64056d3f" providerId="LiveId" clId="{973C8790-90C4-4693-B4E2-8BCA67535D2C}"/>
    <pc:docChg chg="modSld">
      <pc:chgData name="Callum Rennie" userId="3072aa3b64056d3f" providerId="LiveId" clId="{973C8790-90C4-4693-B4E2-8BCA67535D2C}" dt="2025-06-02T06:42:32.909" v="40" actId="20577"/>
      <pc:docMkLst>
        <pc:docMk/>
      </pc:docMkLst>
      <pc:sldChg chg="modSp mod">
        <pc:chgData name="Callum Rennie" userId="3072aa3b64056d3f" providerId="LiveId" clId="{973C8790-90C4-4693-B4E2-8BCA67535D2C}" dt="2025-06-02T06:42:25.432" v="32" actId="20577"/>
        <pc:sldMkLst>
          <pc:docMk/>
          <pc:sldMk cId="727629229" sldId="262"/>
        </pc:sldMkLst>
        <pc:spChg chg="mod">
          <ac:chgData name="Callum Rennie" userId="3072aa3b64056d3f" providerId="LiveId" clId="{973C8790-90C4-4693-B4E2-8BCA67535D2C}" dt="2025-06-02T06:42:25.432" v="32" actId="20577"/>
          <ac:spMkLst>
            <pc:docMk/>
            <pc:sldMk cId="727629229" sldId="262"/>
            <ac:spMk id="3" creationId="{309F4830-7ACB-F015-5462-DDF07635E5E1}"/>
          </ac:spMkLst>
        </pc:spChg>
      </pc:sldChg>
      <pc:sldChg chg="modSp mod">
        <pc:chgData name="Callum Rennie" userId="3072aa3b64056d3f" providerId="LiveId" clId="{973C8790-90C4-4693-B4E2-8BCA67535D2C}" dt="2025-06-02T06:42:32.909" v="40" actId="20577"/>
        <pc:sldMkLst>
          <pc:docMk/>
          <pc:sldMk cId="4283355170" sldId="269"/>
        </pc:sldMkLst>
        <pc:spChg chg="mod">
          <ac:chgData name="Callum Rennie" userId="3072aa3b64056d3f" providerId="LiveId" clId="{973C8790-90C4-4693-B4E2-8BCA67535D2C}" dt="2025-06-02T06:42:32.909" v="40" actId="20577"/>
          <ac:spMkLst>
            <pc:docMk/>
            <pc:sldMk cId="4283355170" sldId="269"/>
            <ac:spMk id="3" creationId="{C0B2772C-A64A-5BC0-2748-9ADCA4582F5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D1CEC-43F7-AA28-C7E4-3FFBED72FA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838BD6-34A0-CF9E-D9A6-23B4322C87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4CF77D-1864-0F3A-5896-06D4B5977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CEACD6-6797-4404-A5DA-8575A8CE6C9E}" type="datetimeFigureOut">
              <a:rPr lang="en-GB" smtClean="0"/>
              <a:t>02/06/2025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A7144D-9E5E-8852-79D5-380DF085E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E42C2-B287-2D16-0C76-21B57822C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BDBE1-134E-43B2-BE58-7D5F32867F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59020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B7C80-E2A3-10F9-A79B-4FF1A3EF9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91F6D-A2D5-469C-AD78-DB30F9778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5E42AC-471E-4FE6-3573-A656773EE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CEACD6-6797-4404-A5DA-8575A8CE6C9E}" type="datetimeFigureOut">
              <a:rPr lang="en-GB" smtClean="0"/>
              <a:t>02/06/2025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63D73-613A-DE02-83C7-EB75ED39D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06863-92D8-297A-52E3-33FE97C0D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BDBE1-134E-43B2-BE58-7D5F32867F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6361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8A9D1-5F79-3E01-6672-654EEE4A2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030219-D5BC-B112-9EB2-6F8E533047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AFDAE-6AEC-59CE-971E-FC694DF97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CEACD6-6797-4404-A5DA-8575A8CE6C9E}" type="datetimeFigureOut">
              <a:rPr lang="en-GB" smtClean="0"/>
              <a:t>02/06/2025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1136E-4FAE-6A97-BF5D-BCD372241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53F620-7824-2910-D934-76F6FBC2D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BDBE1-134E-43B2-BE58-7D5F32867F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09861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80C67-C553-50C8-8201-FB5124D49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B0FCF-5ED9-525E-F82B-AE2D4D0BF3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E518F0-374C-4910-1E47-15EF9266C9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F758AE-33DB-539B-D86E-EE980D8BD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CEACD6-6797-4404-A5DA-8575A8CE6C9E}" type="datetimeFigureOut">
              <a:rPr lang="en-GB" smtClean="0"/>
              <a:t>02/06/2025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A0A407-7775-5C6D-3CFC-4EA1DD205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A36379-3A09-941C-147F-6A00E5BBE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BDBE1-134E-43B2-BE58-7D5F32867F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89934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32BEF-4A11-8D5E-9D74-81B90670A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590438-B04F-FA9D-1180-AA0D5A3140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915906-35F9-B279-13CA-48DC87261C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F4C52F-4917-A361-1A1B-B0A4D078DE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C99B86-4CD2-496C-37F0-7ADEF89C9D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9BF48D-98AD-15E7-0383-6547551C1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CEACD6-6797-4404-A5DA-8575A8CE6C9E}" type="datetimeFigureOut">
              <a:rPr lang="en-GB" smtClean="0"/>
              <a:t>02/06/2025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3EC56C3-57F0-D821-E63B-99F060B0F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EA8CD6-538F-A5DD-31EF-805637D83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BDBE1-134E-43B2-BE58-7D5F32867F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9189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29B24-F252-C896-84B4-BD52C2528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7E78BC-82B1-CAF9-B19D-11FFB52E3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CEACD6-6797-4404-A5DA-8575A8CE6C9E}" type="datetimeFigureOut">
              <a:rPr lang="en-GB" smtClean="0"/>
              <a:t>02/06/2025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15CE07-FD6A-6B6B-7594-D3E282479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280FCF-BDE5-732C-B143-9144C2B39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BDBE1-134E-43B2-BE58-7D5F32867F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3614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A4A68E-DD72-1FD4-DA2A-8D78DE2A7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CEACD6-6797-4404-A5DA-8575A8CE6C9E}" type="datetimeFigureOut">
              <a:rPr lang="en-GB" smtClean="0"/>
              <a:t>02/06/2025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F84162-FB86-63DC-DE04-B548DF262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6AAAB-97D3-BDAF-9AC9-AB3B8DB77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BDBE1-134E-43B2-BE58-7D5F32867F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8777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37359-773E-7D53-8AE8-97853AA00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96C03-E6EC-B4FE-3E4D-6D95DF7FE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CE5287-3D92-EB53-BD4E-377FCA42E7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04B5B4-CAEF-718B-B52B-93934F356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CEACD6-6797-4404-A5DA-8575A8CE6C9E}" type="datetimeFigureOut">
              <a:rPr lang="en-GB" smtClean="0"/>
              <a:t>02/06/2025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79D77B-703D-0CE2-3948-C6609831B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294C34-CCD1-44AE-CD60-A0938DB2D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BDBE1-134E-43B2-BE58-7D5F32867F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1405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99433-2E5C-684D-E9E4-E43B56D2E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6BB73C-8417-9F98-F7F1-3EE0AB65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431C2-9130-A0BA-B666-DBA37C80E8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CD16FB-7A61-8981-2B4E-AA4949013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CEACD6-6797-4404-A5DA-8575A8CE6C9E}" type="datetimeFigureOut">
              <a:rPr lang="en-GB" smtClean="0"/>
              <a:t>02/06/2025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469BA1-A729-4488-00FB-941E07EC9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983C7D-55E6-8F76-1DEE-543C35630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BDBE1-134E-43B2-BE58-7D5F32867F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3481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60999-6966-41A2-A1D2-E84C9BCEA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3FF974-DDC1-1F4E-F216-FB0C379507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5B5EC9-9223-52A8-0E82-31038A695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CEACD6-6797-4404-A5DA-8575A8CE6C9E}" type="datetimeFigureOut">
              <a:rPr lang="en-GB" smtClean="0"/>
              <a:t>02/06/2025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347092-08DD-8F35-FCAF-5B31F0B0A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992F81-AC16-1ACE-2313-79CCC63B8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BDBE1-134E-43B2-BE58-7D5F32867F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6298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4A12D2-FD32-391D-AC39-5276EEDD85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31B09F-1B0D-3A92-BAD8-3A14963F0A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41BC23-F45B-CBB6-8ADB-62C081FAC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CEACD6-6797-4404-A5DA-8575A8CE6C9E}" type="datetimeFigureOut">
              <a:rPr lang="en-GB" smtClean="0"/>
              <a:t>02/06/2025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C679E5-8370-DC92-98E7-E061A5357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0E9C2-DFE0-17FF-675C-3B5DEF547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BDBE1-134E-43B2-BE58-7D5F32867F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46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9CE349-679D-8BAA-C98E-8C7560810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B60F8C-2A07-29F8-2721-CFE08834C4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89D2A4-9357-8DC9-966A-A7557AF469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CEACD6-6797-4404-A5DA-8575A8CE6C9E}" type="datetimeFigureOut">
              <a:rPr lang="en-GB" smtClean="0"/>
              <a:t>02/06/2025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639AFE-08A1-E867-4506-B7099D4ADD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AAB5B7-DB34-AF99-16D2-8E5CCE640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8BDBE1-134E-43B2-BE58-7D5F32867F7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10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8F90786E-B72D-4C32-BDCE-A170B0078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E46F2E7-848F-4A6C-A098-4764FDEA77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6" descr="A white chess piece on a chessboard&#10;&#10;AI-generated content may be incorrect.">
            <a:extLst>
              <a:ext uri="{FF2B5EF4-FFF2-40B4-BE49-F238E27FC236}">
                <a16:creationId xmlns:a16="http://schemas.microsoft.com/office/drawing/2014/main" id="{5DB15FA7-02D6-B6C1-B082-2822BFC5EDF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94"/>
          <a:stretch>
            <a:fillRect/>
          </a:stretch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5E57F64-922A-54CB-4576-02A1875D04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3530" y="236175"/>
            <a:ext cx="5828414" cy="40720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</a:rPr>
              <a:t>Do low-rated chess players win more games when using common or uncommon</a:t>
            </a:r>
            <a:br>
              <a:rPr lang="en-US" sz="4400" dirty="0">
                <a:solidFill>
                  <a:srgbClr val="FFFFFF"/>
                </a:solidFill>
              </a:rPr>
            </a:br>
            <a:r>
              <a:rPr lang="en-US" sz="4400" dirty="0">
                <a:solidFill>
                  <a:srgbClr val="FFFFFF"/>
                </a:solidFill>
              </a:rPr>
              <a:t>openings?</a:t>
            </a:r>
          </a:p>
        </p:txBody>
      </p:sp>
    </p:spTree>
    <p:extLst>
      <p:ext uri="{BB962C8B-B14F-4D97-AF65-F5344CB8AC3E}">
        <p14:creationId xmlns:p14="http://schemas.microsoft.com/office/powerpoint/2010/main" val="522808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2E9FE-B90A-8236-8F6D-7F1DE456A9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2798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219D2-A5FE-7188-575E-31675E185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Members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570031-6CDD-7A6F-2A3C-FB804A5289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Introduce the team members and outline individual project roles.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5761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CC1E6-09B0-8323-D97D-F96F2A93F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Problem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9A14A-1387-FCD6-6682-F823A5F46E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sz="2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Provide an overview of the project's business problem, goals, and context. </a:t>
            </a:r>
            <a:r>
              <a:rPr lang="en-GB" sz="2800" kern="100" dirty="0">
                <a:solidFill>
                  <a:srgbClr val="FF0000"/>
                </a:solidFill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Add significance here too?</a:t>
            </a:r>
          </a:p>
          <a:p>
            <a:endParaRPr lang="en-GB" kern="100" dirty="0">
              <a:latin typeface="Arial" panose="020B06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GB" sz="2800" kern="100" dirty="0">
              <a:effectLst/>
              <a:latin typeface="Arial" panose="020B06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Chess Grandmaster Ben Finegold has strongly contended that studying chess openings and the choice of opening used in a game is completely irrelevant for low-rated players (under 2000 Elo). Instead, he states that the moves and tactics used later in the game are what determine match outcomes at this level.</a:t>
            </a:r>
          </a:p>
          <a:p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Ben Finegold’s assertion that opening study is irrelevant for low-rated players is widely discussed but lacks empirical testing. By providing data-driven insights, this research adds clarity to an ongoing debate in the chess community.</a:t>
            </a:r>
            <a:endParaRPr lang="en-GB" sz="140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en-US" sz="1900" dirty="0"/>
              <a:t>Practical Guidance for Low-Rated Players—Many beginners and club players struggle with how much time to spend on opening study. If results show a performance difference between common and uncommon openings, it will help players make more informed training decisions.</a:t>
            </a:r>
          </a:p>
          <a:p>
            <a:r>
              <a:rPr lang="en-US" sz="1900" dirty="0"/>
              <a:t>Implications for Chess Coaching &amp; Training—Coaches often advise students to stick to common openings, but if uncommon openings provide an advantage, this could shift training recommendations.</a:t>
            </a:r>
          </a:p>
          <a:p>
            <a:r>
              <a:rPr lang="en-US" sz="1900" dirty="0"/>
              <a:t>A Case Study in Data Science &amp; Statistical Analysis—Beyond chess, this project applies real-world data science methods, making it a valuable case study in predictive modelling and hypothesis testing. The methodology could be applied to other domains where expert opinions conflict with empirical evidence.</a:t>
            </a:r>
            <a:endParaRPr lang="en-GB" sz="1900" dirty="0"/>
          </a:p>
        </p:txBody>
      </p:sp>
    </p:spTree>
    <p:extLst>
      <p:ext uri="{BB962C8B-B14F-4D97-AF65-F5344CB8AC3E}">
        <p14:creationId xmlns:p14="http://schemas.microsoft.com/office/powerpoint/2010/main" val="2785249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DB3F4-0EB7-192E-3919-2F8BAF11D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Collection &amp; Project Planning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4925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E5B61-0376-EE50-8477-6CC6458D4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Collection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9F4830-7ACB-F015-5462-DDF07635E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Summarise how the project was scoped, including data sourcing, ethical &amp; legal considerations.</a:t>
            </a:r>
            <a:endParaRPr lang="en-GB" sz="1800" kern="100" dirty="0">
              <a:latin typeface="Arial" panose="020B06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kern="100" dirty="0" err="1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Lichess</a:t>
            </a:r>
            <a:endParaRPr lang="en-GB" sz="1800" kern="100" dirty="0">
              <a:effectLst/>
              <a:latin typeface="Arial" panose="020B06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kern="100" dirty="0"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Data usage policies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27629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83B92-6DF8-E8D1-C29C-E6B9C20A8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Planning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2772C-A64A-5BC0-2748-9ADCA4582F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Discuss the collaboration tools and source control systems used.</a:t>
            </a:r>
          </a:p>
          <a:p>
            <a:r>
              <a:rPr lang="en-GB" kern="100" dirty="0"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</a:t>
            </a:r>
            <a:r>
              <a:rPr lang="en-GB" sz="2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he project management approach.</a:t>
            </a:r>
          </a:p>
          <a:p>
            <a:endParaRPr lang="en-GB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3355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01C36-2C81-D4BF-BA74-13257F6601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Preparation &amp;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77933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E51C5-5F30-35E5-17E7-C161ECEAA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DF8D2-9A47-DFC3-6275-DD8AC65A5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Preparation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4E52E-13B9-AA4F-39FB-EF1446DF6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Explain the data preparation and transformation processes undertaken.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9072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EDD5-07E6-46AB-1A6A-F8980DC6C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Analysis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142D4-7B30-0CB4-7C41-FB6AE378DD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Present exploratory data analysis, statistical findings, and any patterns or relationships discovered.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2340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AF8B4-1880-F08B-433F-724B76B72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GB" sz="44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Insights and Recommendations</a:t>
            </a:r>
            <a:endParaRPr lang="en-GB" sz="4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0D330-BD5B-ECA8-7335-3065A41222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Highlight key performance indicators (KPIs) identified through analysis.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Offer business-relevant insights and provide evidence-based recommendations.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05453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D0C1B-3B89-059E-85F9-125BCA270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4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Visualisation and Communication</a:t>
            </a:r>
            <a:br>
              <a:rPr lang="en-GB" sz="4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689453-F2BD-AF4A-9BAF-C1258A69F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Showcase dashboards, reports, and visualisations that illustrate the results clearly and effectively.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Demonstrate how communication was tailored to the needs of the target audience.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9478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63382-F52B-7291-FB21-055CDD404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GB" sz="44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Next Steps</a:t>
            </a:r>
            <a:endParaRPr lang="en-GB" sz="4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4D0F0B-13B7-58DC-D950-F195D6114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Suggest follow-up actions or further analyses based on the project findings.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53860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BE809-90D0-F6D8-92F7-F59B4503A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4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Conclusion</a:t>
            </a:r>
            <a:br>
              <a:rPr lang="en-GB" sz="4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F9569A-6A04-7274-1542-847AF107A4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Recap the main findings, insights, and recommendations.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Thank the client and stakeholders for their time and engagement.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17192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970D71-5EF9-9BE2-6BAA-FD99B6A05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344" y="191386"/>
            <a:ext cx="11727712" cy="6549656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GB" sz="18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Delivery: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Present confidently, clearly, and engagingly.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 concise and jargon-free language suitable for the audience.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Ensure each team member actively participates in the delivery.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 prepared for audience questions and discussion.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GB" sz="18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Presentation Checklist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Know Your Audience:</a:t>
            </a: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Tailor the content and complexity appropriately.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Simplify the Data:</a:t>
            </a: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Focus on key trends, relationships, and outliers.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 Clear Language:</a:t>
            </a: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Avoid unnecessary jargon; explain technical terms simply.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Provide Context:</a:t>
            </a: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Describe the business problem and why the data matters.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Highlight Key Takeaways:</a:t>
            </a: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Make major insights and recommendations prominent.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 Selective:</a:t>
            </a: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Prioritise the most relevant and impactful information.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Use Real-World Examples:</a:t>
            </a: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Connect insights to practical scenarios.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Practice the Presentation:</a:t>
            </a: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Rehearse to ensure a smooth, confident delivery.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8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Prepare for Questions:</a:t>
            </a:r>
            <a:r>
              <a:rPr lang="en-GB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Anticipate likely queries and prepare clear answers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28013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579</Words>
  <Application>Microsoft Office PowerPoint</Application>
  <PresentationFormat>Widescreen</PresentationFormat>
  <Paragraphs>52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Symbol</vt:lpstr>
      <vt:lpstr>Office Theme</vt:lpstr>
      <vt:lpstr>Do low-rated chess players win more games when using common or uncommon openings?</vt:lpstr>
      <vt:lpstr>Introduction</vt:lpstr>
      <vt:lpstr>Team Members</vt:lpstr>
      <vt:lpstr>Business Problem</vt:lpstr>
      <vt:lpstr>Data Collection &amp; Project Planning</vt:lpstr>
      <vt:lpstr>Data Collection</vt:lpstr>
      <vt:lpstr>Project Planning</vt:lpstr>
      <vt:lpstr>Data Preparation &amp; Analysis</vt:lpstr>
      <vt:lpstr>Data Preparation</vt:lpstr>
      <vt:lpstr>Data Analysis</vt:lpstr>
      <vt:lpstr>Insights and Recommendations</vt:lpstr>
      <vt:lpstr>Visualisation and Communication </vt:lpstr>
      <vt:lpstr>Next Steps</vt:lpstr>
      <vt:lpstr>Conclusion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Callum Rennie</dc:creator>
  <cp:lastModifiedBy>Callum Rennie</cp:lastModifiedBy>
  <cp:revision>1</cp:revision>
  <dcterms:created xsi:type="dcterms:W3CDTF">2025-06-02T06:03:22Z</dcterms:created>
  <dcterms:modified xsi:type="dcterms:W3CDTF">2025-06-02T06:42:36Z</dcterms:modified>
</cp:coreProperties>
</file>