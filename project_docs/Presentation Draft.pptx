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57" r:id="rId4"/>
    <p:sldId id="267" r:id="rId5"/>
    <p:sldId id="268" r:id="rId6"/>
    <p:sldId id="262" r:id="rId7"/>
    <p:sldId id="273" r:id="rId8"/>
    <p:sldId id="269" r:id="rId9"/>
    <p:sldId id="271" r:id="rId10"/>
    <p:sldId id="272" r:id="rId11"/>
    <p:sldId id="259" r:id="rId12"/>
    <p:sldId id="260" r:id="rId13"/>
    <p:sldId id="264" r:id="rId14"/>
    <p:sldId id="261" r:id="rId15"/>
    <p:sldId id="263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llum Rennie" userId="3072aa3b64056d3f" providerId="LiveId" clId="{973C8790-90C4-4693-B4E2-8BCA67535D2C}"/>
    <pc:docChg chg="modSld">
      <pc:chgData name="Callum Rennie" userId="3072aa3b64056d3f" providerId="LiveId" clId="{973C8790-90C4-4693-B4E2-8BCA67535D2C}" dt="2025-06-02T06:42:32.909" v="40" actId="20577"/>
      <pc:docMkLst>
        <pc:docMk/>
      </pc:docMkLst>
      <pc:sldChg chg="modSp mod">
        <pc:chgData name="Callum Rennie" userId="3072aa3b64056d3f" providerId="LiveId" clId="{973C8790-90C4-4693-B4E2-8BCA67535D2C}" dt="2025-06-02T06:42:25.432" v="32" actId="20577"/>
        <pc:sldMkLst>
          <pc:docMk/>
          <pc:sldMk cId="727629229" sldId="262"/>
        </pc:sldMkLst>
        <pc:spChg chg="mod">
          <ac:chgData name="Callum Rennie" userId="3072aa3b64056d3f" providerId="LiveId" clId="{973C8790-90C4-4693-B4E2-8BCA67535D2C}" dt="2025-06-02T06:42:25.432" v="32" actId="20577"/>
          <ac:spMkLst>
            <pc:docMk/>
            <pc:sldMk cId="727629229" sldId="262"/>
            <ac:spMk id="3" creationId="{309F4830-7ACB-F015-5462-DDF07635E5E1}"/>
          </ac:spMkLst>
        </pc:spChg>
      </pc:sldChg>
      <pc:sldChg chg="modSp mod">
        <pc:chgData name="Callum Rennie" userId="3072aa3b64056d3f" providerId="LiveId" clId="{973C8790-90C4-4693-B4E2-8BCA67535D2C}" dt="2025-06-02T06:42:32.909" v="40" actId="20577"/>
        <pc:sldMkLst>
          <pc:docMk/>
          <pc:sldMk cId="4283355170" sldId="269"/>
        </pc:sldMkLst>
        <pc:spChg chg="mod">
          <ac:chgData name="Callum Rennie" userId="3072aa3b64056d3f" providerId="LiveId" clId="{973C8790-90C4-4693-B4E2-8BCA67535D2C}" dt="2025-06-02T06:42:32.909" v="40" actId="20577"/>
          <ac:spMkLst>
            <pc:docMk/>
            <pc:sldMk cId="4283355170" sldId="269"/>
            <ac:spMk id="3" creationId="{C0B2772C-A64A-5BC0-2748-9ADCA4582F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327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40006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479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63750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3125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519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0403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4786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973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5234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4693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5933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378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521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44623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1872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3571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DACEACD6-6797-4404-A5DA-8575A8CE6C9E}" type="datetimeFigureOut">
              <a:rPr lang="en-GB" smtClean="0"/>
              <a:t>04/06/2025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F58BDBE1-134E-43B2-BE58-7D5F32867F7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6286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E57F64-922A-54CB-4576-02A1875D0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0215" y="1238421"/>
            <a:ext cx="5828414" cy="407204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Do low-rated chess players win more games when using common or uncommon</a:t>
            </a:r>
            <a:br>
              <a:rPr lang="en-US" sz="4400" dirty="0">
                <a:solidFill>
                  <a:srgbClr val="FFFFFF"/>
                </a:solidFill>
              </a:rPr>
            </a:br>
            <a:r>
              <a:rPr lang="en-US" sz="4400" dirty="0">
                <a:solidFill>
                  <a:srgbClr val="FFFFFF"/>
                </a:solidFill>
              </a:rPr>
              <a:t>openings?</a:t>
            </a:r>
          </a:p>
        </p:txBody>
      </p:sp>
    </p:spTree>
    <p:extLst>
      <p:ext uri="{BB962C8B-B14F-4D97-AF65-F5344CB8AC3E}">
        <p14:creationId xmlns:p14="http://schemas.microsoft.com/office/powerpoint/2010/main" val="522808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2E9FE-B90A-8236-8F6D-7F1DE456A9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2798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219D2-A5FE-7188-575E-31675E185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70031-6CDD-7A6F-2A3C-FB804A5289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Introduce the team members and outline individual project roles.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57616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C1E6-09B0-8323-D97D-F96F2A93F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9A14A-1387-FCD6-6682-F823A5F46E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GB" sz="28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 an overview of the project's business problem, goals, and context. </a:t>
            </a:r>
            <a:r>
              <a:rPr lang="en-GB" sz="2800" i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 significance here too?</a:t>
            </a:r>
          </a:p>
          <a:p>
            <a:endParaRPr lang="en-GB" kern="1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sz="2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US" sz="1900" dirty="0"/>
              <a:t>Chess Grandmaster Ben Finegold has strongly contended that studying chess openings and the choice of opening used in a game is completely irrelevant for low-rated players (under 2000 Elo). Instead, he states that the moves and tactics used later in the game are what determine match outcomes at this level.</a:t>
            </a:r>
          </a:p>
          <a:p>
            <a:r>
              <a:rPr lang="en-US" sz="1900" dirty="0"/>
              <a:t>Ben Finegold’s assertion that opening study is irrelevant for low-rated players is widely discussed but lacks empirical testing. By providing data-driven insights, this research adds clarity to an ongoing debate in the chess community.</a:t>
            </a:r>
            <a:endParaRPr lang="en-GB" sz="1900" dirty="0"/>
          </a:p>
          <a:p>
            <a:r>
              <a:rPr lang="en-US" sz="1900" dirty="0"/>
              <a:t>Practical Guidance for Low-Rated Players—Many beginners and club players struggle with how much time to spend on opening study. If results show a performance difference between common and uncommon openings, it will help players make more informed training decisions.</a:t>
            </a:r>
          </a:p>
          <a:p>
            <a:r>
              <a:rPr lang="en-US" sz="1900" dirty="0"/>
              <a:t>Implications for Chess Coaching &amp; Training—Coaches often advise students to stick to common openings, but if uncommon openings provide an advantage, this could shift training recommendations.</a:t>
            </a:r>
          </a:p>
          <a:p>
            <a:r>
              <a:rPr lang="en-US" sz="1900" dirty="0"/>
              <a:t>A Case Study in Data Science &amp; Statistical Analysis—Beyond chess, this project applies real-world data science methods, making it a valuable case study in predictive modelling and hypothesis testing. The methodology could be applied to other domains where expert opinions conflict with empirical evidence.</a:t>
            </a:r>
            <a:endParaRPr lang="en-GB" sz="1900" dirty="0"/>
          </a:p>
        </p:txBody>
      </p:sp>
    </p:spTree>
    <p:extLst>
      <p:ext uri="{BB962C8B-B14F-4D97-AF65-F5344CB8AC3E}">
        <p14:creationId xmlns:p14="http://schemas.microsoft.com/office/powerpoint/2010/main" val="2785249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DB3F4-0EB7-192E-3919-2F8BAF11DF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Collection &amp; Project Planning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925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E5B61-0376-EE50-8477-6CC6458D4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9F4830-7ACB-F015-5462-DDF07635E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20" y="2468031"/>
            <a:ext cx="11015330" cy="4219847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18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Summarise how the project was scoped</a:t>
            </a:r>
            <a:r>
              <a:rPr lang="en-GB" sz="1800" i="1" kern="100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(?) i</a:t>
            </a:r>
            <a:r>
              <a:rPr lang="en-GB" sz="18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ncluding data sourcing, ethical &amp; legal considerations.</a:t>
            </a:r>
            <a:endParaRPr lang="en-GB" i="1" kern="100" dirty="0">
              <a:solidFill>
                <a:srgbClr val="FF0000"/>
              </a:solidFill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Scope:</a:t>
            </a:r>
          </a:p>
          <a:p>
            <a:pPr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Investigate the relationship between chess opening and game outcome. Focus on classical games, where Elo of both players was &lt;2,000. Compare win rates of players who used common v uncommon openings. Statistical comparison of performance metrics. Data cleaned, analysed and visualised using Python.</a:t>
            </a:r>
          </a:p>
          <a:p>
            <a:pPr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Source:</a:t>
            </a:r>
          </a:p>
          <a:p>
            <a:pPr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was taken from </a:t>
            </a:r>
            <a:r>
              <a:rPr lang="en-GB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Lichess</a:t>
            </a: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online API (maybe add in what </a:t>
            </a:r>
            <a:r>
              <a:rPr lang="en-GB" kern="100" dirty="0" err="1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Lichess</a:t>
            </a: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is), which provides public access to games for research and analysis. Sampling bias (?)</a:t>
            </a:r>
          </a:p>
          <a:p>
            <a:pPr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Ethical: No personal data used, n</a:t>
            </a:r>
            <a:r>
              <a:rPr lang="en-GB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ot including usernames in our report (aggregated those under 2,000 Elo)</a:t>
            </a: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Findings would be interpreted responsibly, limitations noted. Transparency of our process. </a:t>
            </a:r>
          </a:p>
          <a:p>
            <a:pPr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Legal: </a:t>
            </a:r>
            <a:r>
              <a:rPr lang="en-GB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was used in accordance with </a:t>
            </a:r>
            <a:r>
              <a:rPr lang="en-GB" kern="100" dirty="0" err="1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Lichess</a:t>
            </a:r>
            <a:r>
              <a:rPr lang="en-GB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open access and fair usage policy</a:t>
            </a:r>
            <a:endParaRPr lang="en-GB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lvl="1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GB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7629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21C54-3DAD-7C17-D65D-D1A2DD9E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 add to above slide****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7E027-592C-5438-10D1-0FE4B1C69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95196" y="2413591"/>
            <a:ext cx="8825659" cy="4180367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Data Source: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Extracted from </a:t>
            </a:r>
            <a:r>
              <a:rPr lang="en-US" b="1" dirty="0"/>
              <a:t>Lichess.org</a:t>
            </a:r>
            <a:r>
              <a:rPr lang="en-US" dirty="0"/>
              <a:t> using its public API.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includes opening names, player ratings, and game outcomes.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Games selected from recent, real matches played on the platform.</a:t>
            </a:r>
          </a:p>
          <a:p>
            <a:pPr>
              <a:buNone/>
            </a:pPr>
            <a:r>
              <a:rPr lang="en-US" b="1" dirty="0"/>
              <a:t>About </a:t>
            </a:r>
            <a:r>
              <a:rPr lang="en-US" b="1" dirty="0" err="1"/>
              <a:t>Lichess</a:t>
            </a:r>
            <a:r>
              <a:rPr lang="en-US" b="1" dirty="0"/>
              <a:t>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Free, open-source chess platform with millions of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Provides public access to anonymized game data for analysis.</a:t>
            </a:r>
          </a:p>
          <a:p>
            <a:pPr>
              <a:buNone/>
            </a:pPr>
            <a:r>
              <a:rPr lang="en-US" b="1" dirty="0"/>
              <a:t>Ethical &amp; Legal Considerations: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Only non-personal, anonymized data used.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collection follows </a:t>
            </a:r>
            <a:r>
              <a:rPr lang="en-US" dirty="0" err="1"/>
              <a:t>Lichess’s</a:t>
            </a:r>
            <a:r>
              <a:rPr lang="en-US" dirty="0"/>
              <a:t> API guidelines and fair use policy.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 individual users identified or profiled.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29441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83B92-6DF8-E8D1-C29C-E6B9C20A8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Planning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B2772C-A64A-5BC0-2748-9ADCA4582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604655" cy="3416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Discuss the collaboration tools and source control systems used</a:t>
            </a:r>
            <a:r>
              <a:rPr lang="en-GB" sz="1800" i="1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and overall </a:t>
            </a:r>
            <a:r>
              <a:rPr lang="en-GB" sz="18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management approach.</a:t>
            </a:r>
          </a:p>
          <a:p>
            <a:pPr marL="0" indent="0">
              <a:buNone/>
            </a:pPr>
            <a:endParaRPr lang="en-GB" sz="1800" i="1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r>
              <a:rPr lang="en-GB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Planner set up at the start of the project to set deadlines for each stage of the project.</a:t>
            </a:r>
          </a:p>
          <a:p>
            <a:r>
              <a:rPr lang="en-GB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Weekly meetings on a Wednesday evening to share progress and identify actions for next meeting.</a:t>
            </a:r>
          </a:p>
          <a:p>
            <a:r>
              <a:rPr lang="en-GB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Microsoft Teams group to discuss issues, provide updates or share resources out with weekly meetings.</a:t>
            </a:r>
          </a:p>
          <a:p>
            <a:r>
              <a:rPr lang="en-GB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GitHub used for source control.</a:t>
            </a:r>
          </a:p>
          <a:p>
            <a:endParaRPr lang="en-GB" sz="28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sz="2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33551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01C36-2C81-D4BF-BA74-13257F6601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Preparation &amp; Analysis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7793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E51C5-5F30-35E5-17E7-C161ECEAA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DF8D2-9A47-DFC3-6275-DD8AC65A5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Preparation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4E52E-13B9-AA4F-39FB-EF1446DF66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447" y="2433378"/>
            <a:ext cx="9619106" cy="4158807"/>
          </a:xfrm>
        </p:spPr>
        <p:txBody>
          <a:bodyPr>
            <a:normAutofit fontScale="25000" lnSpcReduction="20000"/>
          </a:bodyPr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64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Explain the data preparation and transformation processes undertaken.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frame started at x thousand rows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duplicates, keeping only the first appearance for white and black players.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numbered games (why?)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Standardized opening names (Petrov and gambit openings)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Removed draws (required to conduct binomial test) 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Filter to only include beginners (Elo between 1,000 and 1,500)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Remove rows where either white or black </a:t>
            </a:r>
            <a:r>
              <a:rPr lang="en-GB" sz="64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</a:t>
            </a:r>
            <a:r>
              <a:rPr lang="en-GB" sz="64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 rating exceeds 50 points</a:t>
            </a: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64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frame now x thousand rows</a:t>
            </a:r>
            <a:endParaRPr lang="en-GB" sz="6400" kern="100" dirty="0"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907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EDD5-07E6-46AB-1A6A-F8980DC6C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142D4-7B30-0CB4-7C41-FB6AE378D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98673"/>
            <a:ext cx="10515600" cy="4447584"/>
          </a:xfrm>
        </p:spPr>
        <p:txBody>
          <a:bodyPr>
            <a:normAutofit/>
          </a:bodyPr>
          <a:lstStyle/>
          <a:p>
            <a:pPr marL="0" lvl="0" indent="0">
              <a:lnSpc>
                <a:spcPct val="115000"/>
              </a:lnSpc>
              <a:spcAft>
                <a:spcPts val="800"/>
              </a:spcAft>
              <a:buSzPts val="1000"/>
              <a:buNone/>
              <a:tabLst>
                <a:tab pos="457200" algn="l"/>
              </a:tabLst>
            </a:pPr>
            <a:r>
              <a:rPr lang="en-GB" sz="1800" i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 exploratory data analysis, statistical findings, and any patterns or relationships discovered.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Created new </a:t>
            </a: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DataFrame to i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dentify the m</a:t>
            </a: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ost frequent openings used (why did we cut off at 30?)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Added labels to indicate if these openings were considered common or uncommon (how did we decide this?) and assigned responsibility for the opening to either white or black.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Merged these columns back to the cleaned DataFrame, so every game now had a column for responsibility, whether they played a common/uncommon opening and who won.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Compared win rates of common v uncommon openings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Chi-square test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GB" sz="1800" kern="100" dirty="0"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Logistic Regression</a:t>
            </a: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GB" sz="1800" kern="1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GB" sz="1800" kern="100" dirty="0"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3409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2AF8B4-1880-F08B-433F-724B76B72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Insights and Recommendations</a:t>
            </a:r>
            <a:endParaRPr lang="en-GB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0D330-BD5B-ECA8-7335-3065A41222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Highlight key performance indicators (KPIs) identified through analysis.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Offer business-relevant insights and provide evidence-based recommendations.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545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D0C1B-3B89-059E-85F9-125BCA270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386" y="622794"/>
            <a:ext cx="10019865" cy="1461188"/>
          </a:xfrm>
        </p:spPr>
        <p:txBody>
          <a:bodyPr/>
          <a:lstStyle/>
          <a:p>
            <a:r>
              <a:rPr lang="en-GB" sz="4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Visualisation and Communication</a:t>
            </a:r>
            <a:br>
              <a:rPr lang="en-GB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689453-F2BD-AF4A-9BAF-C1258A69F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503" y="2714995"/>
            <a:ext cx="8825659" cy="3416300"/>
          </a:xfrm>
        </p:spPr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Showcase dashboards, reports, and visualisations that illustrate the results clearly and effectively.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Demonstrate how communication was tailored to the needs of the target audience.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94785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3382-F52B-7291-FB21-055CDD404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4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Next Steps</a:t>
            </a:r>
            <a:endParaRPr lang="en-GB" sz="4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4D0F0B-13B7-58DC-D950-F195D61149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Suggest follow-up actions or further analyses based on the project findings.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53860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BE809-90D0-F6D8-92F7-F59B4503A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Conclusion</a:t>
            </a:r>
            <a:br>
              <a:rPr lang="en-GB" sz="44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F9569A-6A04-7274-1542-847AF107A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Recap the main findings, insights, and recommendations.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Thank the client and stakeholders for their time and engagement.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17192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70D71-5EF9-9BE2-6BAA-FD99B6A051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44" y="978195"/>
            <a:ext cx="11727712" cy="562462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Delivery: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 confidently, clearly, and engagingly.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concise and jargon-free language suitable for the audience.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Ensure each team member actively participates in the delivery.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 prepared for audience questions and discussion.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Presentation Checklist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Know Your Audience: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Tailor the content and complexity appropriately.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Simplify the Data: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Focus on key trends, relationships, and outliers.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Clear Language: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Avoid unnecessary jargon; explain technical terms simply.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 Context: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Describe the business problem and why the data matters.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Highlight Key Takeaways: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Make major insights and recommendations prominent.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Be Selective: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Prioritise the most relevant and impactful information.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 Real-World Examples: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Connect insights to practical scenarios.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Practice the Presentation: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Rehearse to ensure a smooth, confident delivery.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GB" sz="1800" b="1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Prepare for Questions:</a:t>
            </a:r>
            <a:r>
              <a:rPr lang="en-GB" sz="1800" kern="100" dirty="0"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Anticipate likely queries and prepare clear answers</a:t>
            </a:r>
            <a:endParaRPr lang="en-GB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2801340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129</TotalTime>
  <Words>1032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Century Gothic</vt:lpstr>
      <vt:lpstr>Symbol</vt:lpstr>
      <vt:lpstr>Wingdings 3</vt:lpstr>
      <vt:lpstr>Ion Boardroom</vt:lpstr>
      <vt:lpstr>Do low-rated chess players win more games when using common or uncommon openings?</vt:lpstr>
      <vt:lpstr>Introduction</vt:lpstr>
      <vt:lpstr>Team Members</vt:lpstr>
      <vt:lpstr>Business Problem</vt:lpstr>
      <vt:lpstr>Data Collection &amp; Project Planning</vt:lpstr>
      <vt:lpstr>Data Collection</vt:lpstr>
      <vt:lpstr>To add to above slide****</vt:lpstr>
      <vt:lpstr>Project Planning</vt:lpstr>
      <vt:lpstr>Data Preparation &amp; Analysis</vt:lpstr>
      <vt:lpstr>Data Preparation</vt:lpstr>
      <vt:lpstr>Data Analysis</vt:lpstr>
      <vt:lpstr>Insights and Recommendations</vt:lpstr>
      <vt:lpstr>Visualisation and Communication </vt:lpstr>
      <vt:lpstr>Next Steps</vt:lpstr>
      <vt:lpstr>Conclusion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Callum Rennie</dc:creator>
  <cp:lastModifiedBy>Callum Rennie</cp:lastModifiedBy>
  <cp:revision>6</cp:revision>
  <dcterms:created xsi:type="dcterms:W3CDTF">2025-06-02T06:03:22Z</dcterms:created>
  <dcterms:modified xsi:type="dcterms:W3CDTF">2025-06-04T17:21:14Z</dcterms:modified>
</cp:coreProperties>
</file>